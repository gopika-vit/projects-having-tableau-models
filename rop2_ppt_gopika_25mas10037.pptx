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7" autoAdjust="0"/>
    <p:restoredTop sz="85014" autoAdjust="0"/>
  </p:normalViewPr>
  <p:slideViewPr>
    <p:cSldViewPr snapToGrid="0" snapToObjects="1">
      <p:cViewPr>
        <p:scale>
          <a:sx n="102" d="100"/>
          <a:sy n="102" d="100"/>
        </p:scale>
        <p:origin x="701" y="-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618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B4F7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C9A7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822960"/>
            <a:ext cx="2560320" cy="3200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RESEARCH PRESENTATION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Twin-Inspired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Loss Prediction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&amp; Explainable Artificial Intelligence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45720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						Submitted To:	</a:t>
            </a:r>
          </a:p>
          <a:p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Gopika A						Dr. Shweta Saxena</a:t>
            </a:r>
          </a:p>
          <a:p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25MAS10037					                     VIT Bhopal University </a:t>
            </a:r>
          </a:p>
          <a:p>
            <a:r>
              <a:rPr lang="en-US" sz="1100" i="1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M.Tech</a:t>
            </a: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and 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</a:rPr>
              <a:t>A Novel Framework for Clinical Hair Loss Assessment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2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53035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822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23444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loss (alopecia) affects millions worldwide, with significant psychological and social impact.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multifactorial condition influenced by genetic, environmental, and physiological factors.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clinical diagnosis relies heavily on dermatologist expertise — often subjective and slow.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in AI and deep learning offer a promising path to automated, objective diagnosis.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research proposes a Digital Twin-inspired framework integrating ResNet50 and XAI for scalp image classification.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685800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685800"/>
            <a:ext cx="64008" cy="8686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72237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943600" y="11247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in USA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1709928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1709928"/>
            <a:ext cx="64008" cy="8686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174650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2148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by age 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2734056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2734056"/>
            <a:ext cx="64008" cy="8686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277063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0" y="3172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3758184"/>
            <a:ext cx="3154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60720" y="3758184"/>
            <a:ext cx="64008" cy="8686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3794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943600" y="41970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Trained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3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685800"/>
            <a:ext cx="4206240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⚕  Clinical Subjectivity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20700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by dermatologists is subjective, time-consuming, and prone to inter-observer variability.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68580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685800"/>
            <a:ext cx="4206240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🔬  Limited Scalability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20700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 access is limited in rural/remote regions, causing delayed diagnosis and treatment.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65176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651760"/>
            <a:ext cx="420624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770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B0"/>
                </a:solidFill>
              </a:rPr>
              <a:t>📊  Lack of Interpretability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17296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models act as "black boxes", making clinical adoption difficult without explainability.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09160" y="265176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651760"/>
            <a:ext cx="4206240" cy="54864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7706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B0"/>
                </a:solidFill>
              </a:rPr>
              <a:t>🧬  Multifactorial Complexity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172968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loss involves genetics, hormones, environment — a single-feature model is insufficient for robust prediction.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Existing Approaches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4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859536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685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685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Techniques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77840" y="685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Limitation / Contribution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097280"/>
            <a:ext cx="859536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143000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Methods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143000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SVM, Random Forest, KNN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0" y="1143000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handcrafted features; limited scalability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1746504"/>
            <a:ext cx="8595360" cy="612648"/>
          </a:xfrm>
          <a:prstGeom prst="rect">
            <a:avLst/>
          </a:prstGeom>
          <a:solidFill>
            <a:srgbClr val="F8FA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92224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CNN Models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1792224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AlexNet, VGG on skin lesions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77840" y="1792224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accuracy but lack of interpretability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395728"/>
            <a:ext cx="859536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41448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2441448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ResNet, InceptionV3, EfficientNet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77840" y="2441448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performance on medical imaging tasks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044952"/>
            <a:ext cx="8595360" cy="612648"/>
          </a:xfrm>
          <a:prstGeom prst="rect">
            <a:avLst/>
          </a:prstGeom>
          <a:solidFill>
            <a:srgbClr val="F8FAF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90672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3090672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LIME, SHAP, Grad-CAM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3090672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clinical trust and regulatory acceptance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694176"/>
            <a:ext cx="859536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739896"/>
            <a:ext cx="22860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Concept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739896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patient models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77840" y="3739896"/>
            <a:ext cx="32004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approach for personalized health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— Research Gap &amp; Motivation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5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27" name="Shape 1">
            <a:extLst>
              <a:ext uri="{FF2B5EF4-FFF2-40B4-BE49-F238E27FC236}">
                <a16:creationId xmlns:a16="http://schemas.microsoft.com/office/drawing/2014/main" id="{52EE90DC-4D7B-EF3C-B85C-270D7D541BBF}"/>
              </a:ext>
            </a:extLst>
          </p:cNvPr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890223A8-AFEA-D2E7-2969-51D33248DAB0}"/>
              </a:ext>
            </a:extLst>
          </p:cNvPr>
          <p:cNvSpPr/>
          <p:nvPr/>
        </p:nvSpPr>
        <p:spPr>
          <a:xfrm>
            <a:off x="192024" y="1143000"/>
            <a:ext cx="2765213" cy="2811781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/>
          </a:p>
          <a:p>
            <a:r>
              <a:rPr lang="en-US" sz="1100"/>
              <a:t>A </a:t>
            </a:r>
            <a:r>
              <a:rPr lang="en-US" sz="1100" dirty="0"/>
              <a:t>retrospective study used 318 </a:t>
            </a:r>
            <a:r>
              <a:rPr lang="en-US" sz="1100" dirty="0" err="1"/>
              <a:t>trichoscopic</a:t>
            </a:r>
            <a:r>
              <a:rPr lang="en-US" sz="1100" dirty="0"/>
              <a:t> scalp images labeled with the BASP system and fine‑tuned a ResNet‑18 CNN (pre‑trained on ImageNet) for binary classification (BASP 0 vs BASP 1‑3). Internal 5‑fold cross‑validation yielded &gt; 0.90 accuracy in four folds and AUC &gt; 0.93; external hold‑out testing (20 images) achieved 0.90 accuracy (95 % CI 0.77–1.03) and AUC 0.97, with perfect recall for early‑stage loss. No data augmentation was needed and model convergence was stable. </a:t>
            </a:r>
          </a:p>
          <a:p>
            <a:endParaRPr lang="en-IN" sz="1100" dirty="0"/>
          </a:p>
        </p:txBody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B3889C63-EE1C-6146-2080-30204A1504A5}"/>
              </a:ext>
            </a:extLst>
          </p:cNvPr>
          <p:cNvSpPr/>
          <p:nvPr/>
        </p:nvSpPr>
        <p:spPr>
          <a:xfrm>
            <a:off x="192024" y="1097280"/>
            <a:ext cx="27889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DE172643-7590-937C-072E-433CDB34D496}"/>
              </a:ext>
            </a:extLst>
          </p:cNvPr>
          <p:cNvSpPr/>
          <p:nvPr/>
        </p:nvSpPr>
        <p:spPr>
          <a:xfrm>
            <a:off x="283464" y="1188720"/>
            <a:ext cx="2596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1: </a:t>
            </a:r>
            <a:r>
              <a:rPr lang="en-US" sz="1100" dirty="0">
                <a:solidFill>
                  <a:schemeClr val="bg1"/>
                </a:solidFill>
              </a:rPr>
              <a:t>Early‑stage androgenetic alopecia detection (2025)</a:t>
            </a:r>
          </a:p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EC960F16-55F4-4443-5180-AC19B4C99898}"/>
              </a:ext>
            </a:extLst>
          </p:cNvPr>
          <p:cNvSpPr/>
          <p:nvPr/>
        </p:nvSpPr>
        <p:spPr>
          <a:xfrm>
            <a:off x="274320" y="1600200"/>
            <a:ext cx="26060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375740DF-CCFB-EBDF-A9EF-9DC2FA76C665}"/>
              </a:ext>
            </a:extLst>
          </p:cNvPr>
          <p:cNvSpPr/>
          <p:nvPr/>
        </p:nvSpPr>
        <p:spPr>
          <a:xfrm>
            <a:off x="274320" y="18745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F135E4EA-E1BF-CF15-F59B-474A6BC12553}"/>
              </a:ext>
            </a:extLst>
          </p:cNvPr>
          <p:cNvSpPr/>
          <p:nvPr/>
        </p:nvSpPr>
        <p:spPr>
          <a:xfrm>
            <a:off x="274320" y="2788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1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BA127678-62AA-D104-2D27-73770495BABF}"/>
              </a:ext>
            </a:extLst>
          </p:cNvPr>
          <p:cNvSpPr/>
          <p:nvPr/>
        </p:nvSpPr>
        <p:spPr>
          <a:xfrm>
            <a:off x="274320" y="30632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44A6DD23-4983-D130-7BF9-47CD151BF572}"/>
              </a:ext>
            </a:extLst>
          </p:cNvPr>
          <p:cNvSpPr/>
          <p:nvPr/>
        </p:nvSpPr>
        <p:spPr>
          <a:xfrm>
            <a:off x="3172968" y="1024128"/>
            <a:ext cx="278892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E07BFF28-92B7-9E25-5764-28ED790C84DD}"/>
              </a:ext>
            </a:extLst>
          </p:cNvPr>
          <p:cNvSpPr/>
          <p:nvPr/>
        </p:nvSpPr>
        <p:spPr>
          <a:xfrm>
            <a:off x="3172968" y="1097280"/>
            <a:ext cx="27889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5DF7F9C5-E5E0-4988-86A4-9CBEAB4E14D4}"/>
              </a:ext>
            </a:extLst>
          </p:cNvPr>
          <p:cNvSpPr/>
          <p:nvPr/>
        </p:nvSpPr>
        <p:spPr>
          <a:xfrm>
            <a:off x="3264408" y="1143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</a:t>
            </a:r>
            <a:r>
              <a:rPr lang="en-IN" sz="1100" dirty="0">
                <a:solidFill>
                  <a:schemeClr val="bg1"/>
                </a:solidFill>
              </a:rPr>
              <a:t>CNN for multi‑disease scalp image diagnosis (2025</a:t>
            </a:r>
          </a:p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3BCFAB1E-3B9E-AC33-4A1C-7F10A2C650BE}"/>
              </a:ext>
            </a:extLst>
          </p:cNvPr>
          <p:cNvSpPr/>
          <p:nvPr/>
        </p:nvSpPr>
        <p:spPr>
          <a:xfrm>
            <a:off x="3264408" y="1600200"/>
            <a:ext cx="2606040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The authors assembled 150 images of three scalp conditions (alopecia, psoriasis, folliculitis) from public repositories, applied denoising, contrast enhancement, and histogram equalization, then trained a 2‑D CNN. Training accuracy reached 97 % and validation accuracy 92 %, demonstrating that a relatively small, pre‑processed dataset can support robust multi‑class scalp disease classification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A7529B18-9E6A-FE9A-5499-E04BF43EB169}"/>
              </a:ext>
            </a:extLst>
          </p:cNvPr>
          <p:cNvSpPr/>
          <p:nvPr/>
        </p:nvSpPr>
        <p:spPr>
          <a:xfrm>
            <a:off x="3264408" y="1874520"/>
            <a:ext cx="2606040" cy="215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0F3DF804-D961-380A-2F18-5F687A5457B1}"/>
              </a:ext>
            </a:extLst>
          </p:cNvPr>
          <p:cNvSpPr/>
          <p:nvPr/>
        </p:nvSpPr>
        <p:spPr>
          <a:xfrm>
            <a:off x="6163056" y="1097280"/>
            <a:ext cx="2788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CF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571C3949-0D4A-7B9F-2221-7FA3EAFFDC78}"/>
              </a:ext>
            </a:extLst>
          </p:cNvPr>
          <p:cNvSpPr/>
          <p:nvPr/>
        </p:nvSpPr>
        <p:spPr>
          <a:xfrm>
            <a:off x="6163056" y="1097280"/>
            <a:ext cx="27889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2F06B8C2-D33B-0426-F591-77F3E421A8AE}"/>
              </a:ext>
            </a:extLst>
          </p:cNvPr>
          <p:cNvSpPr/>
          <p:nvPr/>
        </p:nvSpPr>
        <p:spPr>
          <a:xfrm>
            <a:off x="6254496" y="1115568"/>
            <a:ext cx="2697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3: </a:t>
            </a:r>
            <a:r>
              <a:rPr lang="en-US" sz="1100" dirty="0" err="1">
                <a:solidFill>
                  <a:schemeClr val="bg1"/>
                </a:solidFill>
              </a:rPr>
              <a:t>ScalpVision</a:t>
            </a:r>
            <a:r>
              <a:rPr lang="en-US" sz="1100" dirty="0">
                <a:solidFill>
                  <a:schemeClr val="bg1"/>
                </a:solidFill>
              </a:rPr>
              <a:t>: label‑free segmentation &amp; training‑free image translation (2025)</a:t>
            </a:r>
          </a:p>
          <a:p>
            <a:pPr marL="0" indent="0" algn="ctr">
              <a:buNone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3" name="Text 22">
            <a:extLst>
              <a:ext uri="{FF2B5EF4-FFF2-40B4-BE49-F238E27FC236}">
                <a16:creationId xmlns:a16="http://schemas.microsoft.com/office/drawing/2014/main" id="{D68BF705-25A2-0A56-C264-0FEAA4352F83}"/>
              </a:ext>
            </a:extLst>
          </p:cNvPr>
          <p:cNvSpPr/>
          <p:nvPr/>
        </p:nvSpPr>
        <p:spPr>
          <a:xfrm>
            <a:off x="6254496" y="1600200"/>
            <a:ext cx="2615184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/>
              <a:t>To overcome the lack of pixel‑level annotations, the system generates pseudo image‑label pairs via a prompting method and augments data with a generative model (</a:t>
            </a:r>
            <a:r>
              <a:rPr lang="en-US" sz="1100" dirty="0" err="1"/>
              <a:t>DiffuseIT</a:t>
            </a:r>
            <a:r>
              <a:rPr lang="en-US" sz="1100" dirty="0"/>
              <a:t>‑M). The AI pipeline combines hair‑segmentation, disease‑severity prediction, and image‑translation modules, achieving high diagnostic efficiency across several scalp disorders without manual masking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ABF92280-4FE9-437B-B4A9-075EB9D9795B}"/>
              </a:ext>
            </a:extLst>
          </p:cNvPr>
          <p:cNvSpPr/>
          <p:nvPr/>
        </p:nvSpPr>
        <p:spPr>
          <a:xfrm>
            <a:off x="6254496" y="1874519"/>
            <a:ext cx="2606040" cy="20336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Framework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6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685800"/>
            <a:ext cx="1554480" cy="19202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731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8600" y="1261872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19842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scalp images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10512" y="1645920"/>
            <a:ext cx="128016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65960" y="685800"/>
            <a:ext cx="1554480" cy="19202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65960" y="731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965960" y="1261872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19842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Flip, Rotate, Zoom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47872" y="1645920"/>
            <a:ext cx="128016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03320" y="685800"/>
            <a:ext cx="1554480" cy="19202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03320" y="731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703320" y="1261872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03320" y="19842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ResNet50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85232" y="1645920"/>
            <a:ext cx="128016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40680" y="685800"/>
            <a:ext cx="1554480" cy="19202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40680" y="731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40680" y="1261872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19842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NN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22592" y="1645920"/>
            <a:ext cx="128016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040" y="685800"/>
            <a:ext cx="1554480" cy="192024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78040" y="7315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178040" y="1261872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78040" y="19842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/ SHAP(future)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880360"/>
            <a:ext cx="8595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880360"/>
            <a:ext cx="73152" cy="96012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🔁  Digital Twin Layer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3291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Twin mirrors the patient's scalp characteristics as a virtual model — continuously updated with new predictions to simulate disease progression, enabling proactive clinical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Dataset &amp; Preprocessing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7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5029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</a:rPr>
              <a:t>Dataset Details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280160"/>
            <a:ext cx="4754880" cy="4846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325880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325880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~5,000 augmented scalp images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819656"/>
            <a:ext cx="47548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865376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Image 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1865376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Dermoscopy &amp; standard photos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359152"/>
            <a:ext cx="4754880" cy="4846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04872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Classes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2404872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Normal / Mild / Moderate / Severe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898648"/>
            <a:ext cx="47548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44368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Split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2944368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70% Train / 15% Val / 15% Test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438144"/>
            <a:ext cx="4754880" cy="48463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83864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Resolution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3483864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Standardized 224×224 px (ResNet)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977640"/>
            <a:ext cx="4754880" cy="4846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023360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Source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4023360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Clinical dataset + public repositories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685800"/>
            <a:ext cx="33832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822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Augmentation Techniques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77840" y="1298448"/>
            <a:ext cx="32004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0" y="133502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🔄 Random Rotation (±30°)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1728216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176479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↔ Horizontal &amp; Vertical Flip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2157984"/>
            <a:ext cx="32004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0" y="21945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🔍 Zoom-in / Zoom-out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77840" y="2587752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262432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🌈 Color Jitter (Brightness)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3017520"/>
            <a:ext cx="32004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0" y="305409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✂ Random Cropping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3447288"/>
            <a:ext cx="32004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669280" y="348386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🔆 Gaussian Noise Injection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77840" y="3877056"/>
            <a:ext cx="32004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5669280" y="391363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⬛ Cutout Regularization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Model Architecture (ResNet50 + FC Network)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8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1280160" cy="18288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822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554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72768" y="1645920"/>
            <a:ext cx="128016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731520"/>
            <a:ext cx="1280160" cy="182880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19072" y="822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19072" y="1554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17520" y="1645920"/>
            <a:ext cx="128016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63824" y="731520"/>
            <a:ext cx="1280160" cy="1828800"/>
          </a:xfrm>
          <a:prstGeom prst="rect">
            <a:avLst/>
          </a:prstGeom>
          <a:solidFill>
            <a:srgbClr val="1B6CA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63824" y="822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63824" y="1554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2048-dim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62272" y="1645920"/>
            <a:ext cx="128016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731520"/>
            <a:ext cx="1280160" cy="1828800"/>
          </a:xfrm>
          <a:prstGeom prst="rect">
            <a:avLst/>
          </a:prstGeom>
          <a:solidFill>
            <a:srgbClr val="1B5E8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08576" y="822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08576" y="1554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07024" y="1645920"/>
            <a:ext cx="128016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53328" y="731520"/>
            <a:ext cx="1280160" cy="1828800"/>
          </a:xfrm>
          <a:prstGeom prst="rect">
            <a:avLst/>
          </a:prstGeom>
          <a:solidFill>
            <a:srgbClr val="154F7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53328" y="822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53328" y="1554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51776" y="1645920"/>
            <a:ext cx="128016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731520"/>
            <a:ext cx="1280160" cy="18288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0" y="8229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0" y="155448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83464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2834640"/>
            <a:ext cx="64008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28895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182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pretrained on ImageNet provides rich, generalized features — no training from scratch needed.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83464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834640"/>
            <a:ext cx="64008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8895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Layers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92040" y="31821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convolutional layers frozen during initial training; fine-tuned in the second phase.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74904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3749040"/>
            <a:ext cx="64008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8039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0965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layers (0.5 &amp; 0.3) prevent overfitting on the augmented training set.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09160" y="374904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3749040"/>
            <a:ext cx="64008" cy="8046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38039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92040" y="409651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after each dense layer for stable gradient flow and faster convergence.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Explainable AI (XAI) Integration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9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8595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74980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Why Explainability Matters in Clinical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need to understand why a model makes a prediction — not just what it predicts. XAI bridges the gap between deep learning and medical trust.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2788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28800"/>
            <a:ext cx="278892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</a:rPr>
              <a:t>Grad-CAM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23957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Gradient-weighted Class Activation Mapping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2606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heatmaps highlighting scalp regions most influential to the model's classification decision.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82112" y="1828800"/>
            <a:ext cx="2788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82112" y="1828800"/>
            <a:ext cx="278892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3273552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</a:rPr>
              <a:t>SHAP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23957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Additive exPlanations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73552" y="2834640"/>
            <a:ext cx="2606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feature importance values to each input pixel, quantifying individual contributions to each prediction.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9904" y="1828800"/>
            <a:ext cx="27889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828800"/>
            <a:ext cx="278892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6181344" y="18288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</a:rPr>
              <a:t>LIME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81344" y="2395728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Interpretable Model-agnostic Explanations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81344" y="2834640"/>
            <a:ext cx="26060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approximates the complex model with a simpler, interpretable surrogate around each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Training &amp; Evaluation Setup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10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41148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8046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</a:rPr>
              <a:t>Training Configuration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3931920" cy="42976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984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Optimizer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2984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Adam (lr=0.0001)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746504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Loss Function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Categorical Cross-Entropy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3931920" cy="42976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2677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Batch Size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2677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32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15768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5234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Epochs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27523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50 (Early Stopping)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3931920" cy="42976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23697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Scheduler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23697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ReduceLROnPlateau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85032"/>
            <a:ext cx="393192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72160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Framework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3721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TensorFlow / Keras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69664"/>
            <a:ext cx="3931920" cy="42976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4206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Hardware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94560" y="4206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GPU (CUDA-enabled)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685800"/>
            <a:ext cx="42976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804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CA8"/>
                </a:solidFill>
              </a:rPr>
              <a:t>Evaluation Metrics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1261872"/>
            <a:ext cx="411480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29844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Accuracy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26480" y="129844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Overall correct predictions across all classes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1792224"/>
            <a:ext cx="41148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182880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Precision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26480" y="182880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Correct positive predictions per predicted class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2322576"/>
            <a:ext cx="411480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2359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Recall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235915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True positive rate per actual class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2852928"/>
            <a:ext cx="41148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288950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F1-Score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26480" y="288950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Harmonic mean of Precision &amp; Recall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3383280"/>
            <a:ext cx="411480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41985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AUC-ROC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26480" y="34198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Area Under the ROC Curve per class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63440" y="3913632"/>
            <a:ext cx="41148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3950208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Confusion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Matrix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126480" y="395020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Full cross-class prediction breakdown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Performance Metrics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11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685800"/>
            <a:ext cx="2011680" cy="54864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8046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4320" y="1481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23160" y="68580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68580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8046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423160" y="1481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68580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685800"/>
            <a:ext cx="2011680" cy="54864"/>
          </a:xfrm>
          <a:prstGeom prst="rect">
            <a:avLst/>
          </a:prstGeom>
          <a:solidFill>
            <a:srgbClr val="0D6EA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8046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6E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572000" y="1481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68580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685800"/>
            <a:ext cx="2011680" cy="54864"/>
          </a:xfrm>
          <a:prstGeom prst="rect">
            <a:avLst/>
          </a:prstGeom>
          <a:solidFill>
            <a:srgbClr val="2196B0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8046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1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720840" y="148132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859536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240280"/>
            <a:ext cx="859536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Precision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2240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Recall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240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F1-Score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2240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Support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2651760"/>
            <a:ext cx="859536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27249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Normal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86000" y="27249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95.1%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31920" y="272491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94.8%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77840" y="27249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94.9%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272491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380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163824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2369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Mild Alopecia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286000" y="32369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92.4%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931920" y="32369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91.7%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77840" y="323697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92.0%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498080" y="32369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310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74320" y="3675888"/>
            <a:ext cx="859536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7490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Moderate Alopecia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28600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93.6%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931920" y="3749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92.1%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77840" y="3749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92.8%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498080" y="37490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285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" y="4187952"/>
            <a:ext cx="859536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26110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</a:rPr>
              <a:t>Severe Alopecia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286000" y="42611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94.0%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931920" y="426110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93.0%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577840" y="42611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93.5%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98080" y="42611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225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Comparison with Baseline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12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8595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74320" y="32918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65%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278892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74320" y="26517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75%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14884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274320" y="20116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85%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1508760"/>
            <a:ext cx="7772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74320" y="13716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95%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73480" y="2974543"/>
            <a:ext cx="777240" cy="774497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1173480" y="2718511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72.1%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82040" y="37947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468880" y="2699309"/>
            <a:ext cx="777240" cy="1049731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2443277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76.4%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37947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64280" y="2385670"/>
            <a:ext cx="777240" cy="136337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3764280" y="212963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81.3%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72840" y="37947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59680" y="2168042"/>
            <a:ext cx="777240" cy="158099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Text 26"/>
          <p:cNvSpPr/>
          <p:nvPr/>
        </p:nvSpPr>
        <p:spPr>
          <a:xfrm>
            <a:off x="5059680" y="191201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84.7%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68240" y="37947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55080" y="1880006"/>
            <a:ext cx="777240" cy="1869034"/>
          </a:xfrm>
          <a:prstGeom prst="rect">
            <a:avLst/>
          </a:prstGeom>
          <a:solidFill>
            <a:srgbClr val="2196B0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162397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</a:rPr>
              <a:t>89.2%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7947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InceptionV3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50480" y="1572768"/>
            <a:ext cx="777240" cy="2176272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4" name="Text 32"/>
          <p:cNvSpPr/>
          <p:nvPr/>
        </p:nvSpPr>
        <p:spPr>
          <a:xfrm>
            <a:off x="7650480" y="1316736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6CA8"/>
                </a:solidFill>
              </a:rPr>
              <a:t>94%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59040" y="37947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ResNet50+XAI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3749040"/>
            <a:ext cx="7772400" cy="0"/>
          </a:xfrm>
          <a:prstGeom prst="line">
            <a:avLst/>
          </a:prstGeom>
          <a:noFill/>
          <a:ln w="12700">
            <a:solidFill>
              <a:srgbClr val="0D1B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4160520"/>
            <a:ext cx="85953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160520"/>
            <a:ext cx="64008" cy="64008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" y="41879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Finding: The proposed ResNet50 + XAI model outperforms all baseline approaches by 4.8% over InceptionV3 and 21.9% over traditional SVM.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</a:rPr>
              <a:t>14 / 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956048"/>
            <a:ext cx="86868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Hair Loss Prediction using Deep Learning &amp; XAI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685800"/>
            <a:ext cx="8595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685800"/>
            <a:ext cx="859536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804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Summary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1155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 presents a robust, explainable, and clinically relevant framework for automated hair loss prediction using scalp dermoscopy images, achieving 94% test accuracy with minimal overfitting.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28800"/>
            <a:ext cx="64008" cy="5486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88366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6CA8"/>
                </a:solidFill>
              </a:rPr>
              <a:t>✔  High Accuracy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834640" y="188366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94% test accuracy, surpassing all traditional and CNN-based baselines evaluated.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32304"/>
            <a:ext cx="64008" cy="5486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871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6CA8"/>
                </a:solidFill>
              </a:rPr>
              <a:t>✔  Minimal Overfitting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834640" y="248716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and Dropout regularization resulted in closely aligned training and validation performance.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3580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35808"/>
            <a:ext cx="64008" cy="5486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906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6CA8"/>
                </a:solidFill>
              </a:rPr>
              <a:t>✔  Explainability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834640" y="309067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and SHAP provide clinician-interpretable outputs, enabling real-world clinical support integration.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39312"/>
            <a:ext cx="64008" cy="5486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69417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6CA8"/>
                </a:solidFill>
              </a:rPr>
              <a:t>✔  Digital Twin Ready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834640" y="3694176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can serve as a virtual scalp model, enabling longitudinal hair health monitoring.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4281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4242816"/>
            <a:ext cx="64008" cy="54864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9768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196B0"/>
                </a:solidFill>
              </a:rPr>
              <a:t>⏩  Future Work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834640" y="429768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multi-modal inputs (genetic data, hormonal profiles); deploy as a mobile clinical app; validate on larger clinical cohorts.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1B6CA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-1371600"/>
            <a:ext cx="4114800" cy="4114800"/>
          </a:xfrm>
          <a:prstGeom prst="ellipse">
            <a:avLst/>
          </a:prstGeom>
          <a:solidFill>
            <a:srgbClr val="00C9A7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743200"/>
            <a:ext cx="3657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Deep Features   •   XAI / Grad-CAM   •   94% Accuracy   •   Digital Twin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474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"Bridging Deep Learning and Clinical Practice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Explainable AI in Dermatology"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1471</Words>
  <Application>Microsoft Office PowerPoint</Application>
  <PresentationFormat>On-screen Show (16:9)</PresentationFormat>
  <Paragraphs>293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Twin-Inspired Hair Loss Prediction Using Deep Learning and XAI</dc:title>
  <dc:subject>PptxGenJS Presentation</dc:subject>
  <dc:creator>PptxGenJS</dc:creator>
  <cp:lastModifiedBy>goopikaa@outlook.com</cp:lastModifiedBy>
  <cp:revision>2</cp:revision>
  <dcterms:created xsi:type="dcterms:W3CDTF">2026-04-10T21:10:44Z</dcterms:created>
  <dcterms:modified xsi:type="dcterms:W3CDTF">2026-04-10T21:20:01Z</dcterms:modified>
</cp:coreProperties>
</file>